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772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143A66"/>
                </a:solidFill>
                <a:latin typeface="Arial"/>
              </a:rPr>
              <a:t>DefiNet   (דפי-נט)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5A6673"/>
                </a:solidFill>
                <a:latin typeface="Arial"/>
              </a:rPr>
              <a:t>פרויקט סיום - קורס פיתוח בפלטפורמת WEB, סמסטר ב'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214884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2677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מגיש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487168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3A66"/>
                </a:solidFill>
                <a:latin typeface="Arial"/>
              </a:rPr>
              <a:t>דולפין ורשב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76148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315853101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3657600" cy="86868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מגישה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3A66"/>
                </a:solidFill>
                <a:latin typeface="Arial"/>
              </a:rPr>
              <a:t>מעיין סנדק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6148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207182585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7543800" cy="65836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3246120"/>
            <a:ext cx="54864" cy="65836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10127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3A66"/>
                </a:solidFill>
                <a:latin typeface="Arial"/>
              </a:rPr>
              <a:t>האתר בענן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F5C99"/>
                </a:solidFill>
                <a:latin typeface="Arial"/>
              </a:rPr>
              <a:t>https://development-on-web-platforms-web.vercel.app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95928"/>
            <a:ext cx="7543800" cy="65836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3995928"/>
            <a:ext cx="54864" cy="65836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59936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3A66"/>
                </a:solidFill>
                <a:latin typeface="Arial"/>
              </a:rPr>
              <a:t>API בענן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15968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F5C99"/>
                </a:solidFill>
                <a:latin typeface="Arial"/>
              </a:rPr>
              <a:t>https://definet-api.onrender.com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45736"/>
            <a:ext cx="7543800" cy="65836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6" y="4745736"/>
            <a:ext cx="54864" cy="65836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3A66"/>
                </a:solidFill>
                <a:latin typeface="Arial"/>
              </a:rPr>
              <a:t>GitHub - מעיין סנדק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6577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F5C99"/>
                </a:solidFill>
                <a:latin typeface="Arial"/>
              </a:rPr>
              <a:t>https://github.com/MaayanSandak/Development-on-web-platforms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95544"/>
            <a:ext cx="7543800" cy="65836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0456" y="5495544"/>
            <a:ext cx="54864" cy="65836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59552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3A66"/>
                </a:solidFill>
                <a:latin typeface="Arial"/>
              </a:rPr>
              <a:t>GitHub - דולפין ורשב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15584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1F5C99"/>
                </a:solidFill>
                <a:latin typeface="Arial"/>
              </a:rPr>
              <a:t>https://github.com/dolfinvarshev/Development-on-web-platforms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291072"/>
            <a:ext cx="7543800" cy="566928"/>
          </a:xfrm>
          <a:prstGeom prst="roundRect">
            <a:avLst>
              <a:gd name="adj" fmla="val 6000"/>
            </a:avLst>
          </a:prstGeom>
          <a:solidFill>
            <a:srgbClr val="FFF9E6"/>
          </a:solidFill>
          <a:ln w="12700">
            <a:solidFill>
              <a:srgbClr val="E0A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409944"/>
            <a:ext cx="7178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7A5A0A"/>
                </a:solidFill>
                <a:latin typeface="Arial"/>
              </a:rPr>
              <a:t>כניסת מנהל להדגמה:  micha / 1234   (מוצג גם במסך ההתחברות, לפי דרישת הפרויקט)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2148840"/>
            <a:ext cx="251460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qr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423160"/>
            <a:ext cx="1874519" cy="187451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52560" y="443484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Live 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983480"/>
            <a:ext cx="2514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מערכת WEB למיפוי דפיברילטורים נייחים וניידים, ניהול מתנדבים וסימולציית קריאת מצוקה בזמן אמת.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DefiNet - WEB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43A66"/>
                </a:solidFill>
                <a:latin typeface="Arial"/>
              </a:rPr>
              <a:t>תקציר הפרויקט והטכנולוגיות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1F5C99"/>
                </a:solidFill>
                <a:latin typeface="Arial"/>
              </a:rPr>
              <a:t>מה המערכת עושה?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ממפה דפיברילטורים נייחים וניידים ומציגה מיקום, מצב סוללה וזמן שידור אחרון.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מדמה קריאת מצוקה: איתור מועמדים לפי רדיוס ומרחק, בחירת מתנדב ומעקב אחר ההגעה.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מציגה מסלול רכיבה אל האירוע ומדגימה התרעה בערוצים סלולריים ו-LoRa.</a:t>
            </a:r>
          </a:p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כוללת אזור Admin לניהול רישום, תוכן שיווקי, הגדרות, התראות ונתוני הדגמה.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749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5C99"/>
                </a:solidFill>
                <a:latin typeface="Arial"/>
              </a:rPr>
              <a:t>תוספות בפרויקט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3766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RTL Hebrew  |  WEB Simulator  |  Leaflet Map</a:t>
            </a:r>
          </a:p>
          <a:p>
            <a:pPr algn="ctr" rtl="0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JWT + Refresh  |  Admin CMS  |  Analytics + CPR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074920" cy="43434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1F5C99"/>
                </a:solidFill>
                <a:latin typeface="Arial"/>
              </a:rPr>
              <a:t>טכנולוגיות מרכזיות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617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11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Frontend: Next.js 15, React, Tailwind CSS</a:t>
            </a:r>
          </a:p>
          <a:p>
            <a:pPr algn="r" rtl="1">
              <a:lnSpc>
                <a:spcPct val="130000"/>
              </a:lnSpc>
              <a:spcAft>
                <a:spcPts val="11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Backend: Express REST API</a:t>
            </a:r>
          </a:p>
          <a:p>
            <a:pPr algn="r" rtl="1">
              <a:lnSpc>
                <a:spcPct val="130000"/>
              </a:lnSpc>
              <a:spcAft>
                <a:spcPts val="11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SQL: SQLite - משתמשים, מכשירים, Admin ו-Refresh Tokens</a:t>
            </a:r>
          </a:p>
          <a:p>
            <a:pPr algn="r" rtl="1">
              <a:lnSpc>
                <a:spcPct val="130000"/>
              </a:lnSpc>
              <a:spcAft>
                <a:spcPts val="11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NoSQL: MongoDB - אירועים, CMS, Telemetry, Alerts ו-Config</a:t>
            </a:r>
          </a:p>
          <a:p>
            <a:pPr algn="r" rtl="1">
              <a:lnSpc>
                <a:spcPct val="130000"/>
              </a:lnSpc>
              <a:spcAft>
                <a:spcPts val="11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Authentication: JWT Access Token + Refresh Token Rotation</a:t>
            </a:r>
          </a:p>
          <a:p>
            <a:pPr algn="r" rtl="1">
              <a:lnSpc>
                <a:spcPct val="130000"/>
              </a:lnSpc>
              <a:spcAft>
                <a:spcPts val="11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Maps and Routing: Leaflet + שירות Routing חיצוני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5230368"/>
            <a:ext cx="4617720" cy="411480"/>
          </a:xfrm>
          <a:prstGeom prst="roundRect">
            <a:avLst>
              <a:gd name="adj" fmla="val 6000"/>
            </a:avLst>
          </a:prstGeom>
          <a:solidFill>
            <a:srgbClr val="FFF9E6"/>
          </a:solidFill>
          <a:ln w="12700">
            <a:solidFill>
              <a:srgbClr val="E0A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5330952"/>
            <a:ext cx="4251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7A5A0A"/>
                </a:solidFill>
                <a:latin typeface="Arial"/>
              </a:rPr>
              <a:t>המערכת בנויה בשני שרתים ושני סוגי בסיסי נתונים, בהתאם לדרישות הפרויקט.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DefiNet - WEB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43A66"/>
                </a:solidFill>
                <a:latin typeface="Arial"/>
              </a:rPr>
              <a:t>מגבלות ידועות / Known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1F5C99"/>
                </a:solidFill>
                <a:latin typeface="Arial"/>
              </a:rPr>
              <a:t>סביבת הענן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937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2000"/>
              </a:lnSpc>
              <a:spcAft>
                <a:spcPts val="14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Render Free: לאחר זמן ללא פעילות השרת עשוי להיכנס למצב שינה, ולכן הבקשה הראשונה יכולה להתעכב.</a:t>
            </a:r>
          </a:p>
          <a:p>
            <a:pPr algn="r" rtl="1">
              <a:lnSpc>
                <a:spcPct val="132000"/>
              </a:lnSpc>
              <a:spcAft>
                <a:spcPts val="14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SQLite בענן: בשכבה החינמית הנתונים אינם נשמרים לצמיתות בין Deployments; בעת אתחול ריק נטענים מחדש נתוני הדמו.</a:t>
            </a:r>
          </a:p>
          <a:p>
            <a:pPr algn="r" rtl="1">
              <a:lnSpc>
                <a:spcPct val="132000"/>
              </a:lnSpc>
              <a:spcAft>
                <a:spcPts val="14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MongoDB Atlas: בשל היעדר IP קבוע יוצא ב-Render Free, הגישה לרשת רחבה יותר ומוגנת באמצעות Authentication ו-TLS.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074920" cy="43434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64592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1F5C99"/>
                </a:solidFill>
                <a:latin typeface="Arial"/>
              </a:rPr>
              <a:t>שירותים חיצוניים וסימולציה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03120"/>
            <a:ext cx="4617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2000"/>
              </a:lnSpc>
              <a:spcAft>
                <a:spcPts val="14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שירות מסלולי האופניים הוא שירות ציבורי חיצוני, ולכן זמינות המסלול תלויה בזמינות השירות.</a:t>
            </a:r>
          </a:p>
          <a:p>
            <a:pPr algn="r" rtl="1">
              <a:lnSpc>
                <a:spcPct val="132000"/>
              </a:lnSpc>
              <a:spcAft>
                <a:spcPts val="14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תרחישי LoRa, Push ו-SMS מוצגים במסגרת סימולטור ה-WEB ואינם מחוברים לחומרת LoRa פיזית.</a:t>
            </a:r>
          </a:p>
          <a:p>
            <a:pPr algn="r" rtl="1">
              <a:lnSpc>
                <a:spcPct val="132000"/>
              </a:lnSpc>
              <a:spcAft>
                <a:spcPts val="1400"/>
              </a:spcAft>
            </a:pPr>
            <a:r>
              <a:rPr sz="1250" b="0">
                <a:solidFill>
                  <a:srgbClr val="222B35"/>
                </a:solidFill>
                <a:latin typeface="Arial"/>
              </a:rPr>
              <a:t>• נתוני המכשירים והמתנדבים כוללים נתוני Demo לצורך הצגה עקבית של תרחיש הקורס.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5029200"/>
            <a:ext cx="4617720" cy="658368"/>
          </a:xfrm>
          <a:prstGeom prst="roundRect">
            <a:avLst>
              <a:gd name="adj" fmla="val 6000"/>
            </a:avLst>
          </a:prstGeom>
          <a:solidFill>
            <a:srgbClr val="FFF9E6"/>
          </a:solidFill>
          <a:ln w="12700">
            <a:solidFill>
              <a:srgbClr val="E0A8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513892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7A5A0A"/>
                </a:solidFill>
                <a:latin typeface="Arial"/>
              </a:rPr>
              <a:t>גילוי נאות: אלו מגבלות ידועות של סביבת ההדגמה וה-Free Tier. הן אינן מונעות הצגת התרחיש המלא באתר.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DefiNet - WEB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43A66"/>
                </a:solidFill>
                <a:latin typeface="Arial"/>
              </a:rPr>
              <a:t>מבנה ארכיטקטוני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1554480"/>
            <a:ext cx="3017520" cy="16002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1080" y="1810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43A66"/>
                </a:solidFill>
                <a:latin typeface="Arial"/>
              </a:rP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2267712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User / Admin</a:t>
            </a:r>
          </a:p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Hebrew RTL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21488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0"/>
              </a:spcAft>
            </a:pPr>
            <a:r>
              <a:rPr sz="2400" b="0">
                <a:solidFill>
                  <a:srgbClr val="1F5C99"/>
                </a:solidFill>
                <a:latin typeface="Arial"/>
              </a:rPr>
              <a:t>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10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43A66"/>
                </a:solidFill>
                <a:latin typeface="Arial"/>
              </a:rPr>
              <a:t>Next.js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67712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Vercel</a:t>
            </a:r>
          </a:p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Marketing · Register</a:t>
            </a:r>
          </a:p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Simulator · Admin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1488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0"/>
              </a:spcAft>
            </a:pPr>
            <a:r>
              <a:rPr sz="2400" b="0">
                <a:solidFill>
                  <a:srgbClr val="1F5C99"/>
                </a:solidFill>
                <a:latin typeface="Arial"/>
              </a:rPr>
              <a:t>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54480"/>
            <a:ext cx="3200400" cy="16002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105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43A66"/>
                </a:solidFill>
                <a:latin typeface="Arial"/>
              </a:rPr>
              <a:t>Express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67712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Render</a:t>
            </a:r>
          </a:p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JWT Refresh · Registry</a:t>
            </a:r>
          </a:p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Incidents ·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847088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5A6673"/>
                </a:solidFill>
                <a:latin typeface="Arial"/>
              </a:rPr>
              <a:t>REST /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703320"/>
            <a:ext cx="4617720" cy="146304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5935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43A66"/>
                </a:solidFill>
                <a:latin typeface="Arial"/>
              </a:rPr>
              <a:t>MongoDB - NoSQL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16552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Incidents · CMS · Telemetry · Alerts · Config</a:t>
            </a:r>
          </a:p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Flexible / Nested Documents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3703320"/>
            <a:ext cx="4617720" cy="146304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5935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143A66"/>
                </a:solidFill>
                <a:latin typeface="Arial"/>
              </a:rPr>
              <a:t>SQLite -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416552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Users · Devices · Admins · Refresh Tokens</a:t>
            </a:r>
          </a:p>
          <a:p>
            <a:pPr algn="ctr" rtl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5A6673"/>
                </a:solidFill>
                <a:latin typeface="Arial"/>
              </a:rPr>
              <a:t>Relations · Constraints · Structured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86400"/>
            <a:ext cx="3063240" cy="50292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1441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3A66"/>
                </a:solidFill>
                <a:latin typeface="Arial"/>
              </a:rPr>
              <a:t>JWT Access + Refresh Rotation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486400"/>
            <a:ext cx="3063240" cy="50292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561441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3A66"/>
                </a:solidFill>
                <a:latin typeface="Arial"/>
              </a:rPr>
              <a:t>Leaflet + Geo-fencing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5486400"/>
            <a:ext cx="3063240" cy="50292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561441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0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3A66"/>
                </a:solidFill>
                <a:latin typeface="Arial"/>
              </a:rPr>
              <a:t>Bike Route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DefiNet - WEB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43A66"/>
                </a:solidFill>
                <a:latin typeface="Arial"/>
              </a:rPr>
              <a:t>דגימות קוד מרכזיות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6673"/>
                </a:solidFill>
                <a:latin typeface="Arial"/>
              </a:rPr>
              <a:t>שלושת הקטעים שנשאלים עליהם בדרך כלל: אבטחת Admin, החישוב הגיאוגרפי ורוטציית ה-Refresh Token.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739896" cy="34290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3A66"/>
                </a:solidFill>
                <a:latin typeface="Arial"/>
              </a:rPr>
              <a:t>server/src/routes/incidents.js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57984"/>
            <a:ext cx="3383280" cy="1481328"/>
          </a:xfrm>
          <a:prstGeom prst="roundRect">
            <a:avLst>
              <a:gd name="adj" fmla="val 6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3054096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// דירוג: בתוך הרדיוס קודם, שידור טרי לפני ישן, ואז מרחק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sorted.sort((a, b) =&gt; {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if (a.inRadius !== b.inRadius) return a.inRadius ? -1 : 1;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if (a.fresh   !== b.fresh)     return a.fresh   ? -1 : 1;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return a.distanceM - b.distanceM;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3383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מנוע האירועים: פיזור המכשירים, חישוב מרחקים, גידור גאוגרפי ודירוג המועמדים.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691640"/>
            <a:ext cx="3739896" cy="34290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82880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3A66"/>
                </a:solidFill>
                <a:latin typeface="Arial"/>
              </a:rPr>
              <a:t>server/src/lib/geo.js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157984"/>
            <a:ext cx="3383280" cy="1481328"/>
          </a:xfrm>
          <a:prstGeom prst="roundRect">
            <a:avLst>
              <a:gd name="adj" fmla="val 6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54096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const a = Math.sin(dLat / 2) ** 2 +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Math.cos(la1) * Math.cos(la2) *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Math.sin(dLng / 2) ** 2;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return 2 * EARTH_RADIUS_M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* Math.asin(Math.sqrt(a));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3767328"/>
            <a:ext cx="3383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נוסחת Haversine: מרחק על פני כדור הארץ בין נקודת המצוקה לכל מכשיר.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7536" y="1691640"/>
            <a:ext cx="3739896" cy="34290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415" y="182880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50" b="1">
                <a:solidFill>
                  <a:srgbClr val="143A66"/>
                </a:solidFill>
                <a:latin typeface="Arial"/>
              </a:rPr>
              <a:t>server/src/routes/auth.js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5" y="2157984"/>
            <a:ext cx="3383280" cy="1481328"/>
          </a:xfrm>
          <a:prstGeom prst="roundRect">
            <a:avLst>
              <a:gd name="adj" fmla="val 6000"/>
            </a:avLst>
          </a:prstGeom>
          <a:solidFill>
            <a:srgbClr val="1B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7" y="2286000"/>
            <a:ext cx="3054096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db.transaction(() =&gt; {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db.prepare('UPDATE refresh_tokens'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  + ' SET revoked = 1 WHERE jti = ?')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  .run(session.jti);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  issueRefreshToken(res, session.username);</a:t>
            </a:r>
          </a:p>
          <a:p>
            <a:pPr algn="l" rtl="0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D8E4F0"/>
                </a:solidFill>
                <a:latin typeface="Consolas"/>
              </a:rPr>
              <a:t>})();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5" y="3767328"/>
            <a:ext cx="3383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רוטציה: כל Refresh Token הוא חד-פעמי, ולכן טוקן גנוב נכשל בשימוש החוזר.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10744200" cy="77724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B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468112"/>
            <a:ext cx="10287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1F5C99"/>
                </a:solidFill>
                <a:latin typeface="Arial"/>
              </a:rPr>
              <a:t>קבצים מרכזיים נוספים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742432"/>
            <a:ext cx="10287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server/src/routes/registry.js · server/src/db/sqlite.js · server/src/db/mongo.js · server/src/lib/silent-update.js · web/components/map/SimulatorApp.jsx · web/lib/api.js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DefiNet - WEB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0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6673"/>
                </a:solidFill>
                <a:latin typeface="Arial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