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143A66"/>
                </a:solidFill>
                <a:latin typeface="Arial"/>
              </a:rPr>
              <a:t>DefiNet   (דפי-נט)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A6673"/>
                </a:solidFill>
                <a:latin typeface="Arial"/>
              </a:rPr>
              <a:t>פרויקט סיום - קורס פיתוח בפלטפורמת WEB, סמסטר ב'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214884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22677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מגיש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487168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43A66"/>
                </a:solidFill>
                <a:latin typeface="Arial"/>
              </a:rPr>
              <a:t>דולפין ורשב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76148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315853101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48840"/>
            <a:ext cx="3657600" cy="8686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2677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מגישה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87168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43A66"/>
                </a:solidFill>
                <a:latin typeface="Arial"/>
              </a:rPr>
              <a:t>מעיין סנדק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148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207182585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0456" y="3200400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46120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האתר בענן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493008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https://development-on-web-platforms-web.vercel.app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58768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0456" y="3858768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04487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API בענן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151376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https://definet-api.onrender.com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17136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0456" y="4517136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62855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GitHub - מעיין סנדק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809744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https://github.com/MaayanSandak/Development-on-web-platforms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75503"/>
            <a:ext cx="7543800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0456" y="5175503"/>
            <a:ext cx="54864" cy="5669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221223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43A66"/>
                </a:solidFill>
                <a:latin typeface="Arial"/>
              </a:rPr>
              <a:t>GitHub - דולפין ורשב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468112"/>
            <a:ext cx="7132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F5C99"/>
                </a:solidFill>
                <a:latin typeface="Arial"/>
              </a:rPr>
              <a:t>https://github.com/dolfinvarshev/Development-on-web-platforms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888735"/>
            <a:ext cx="7543800" cy="45720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998463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7A5A0A"/>
                </a:solidFill>
                <a:latin typeface="Arial"/>
              </a:rPr>
              <a:t>כניסת מנהל להדגמה:  micha / 1234   (מוצג גם במסך ההתחברות, לפי דרישת הפרויקט)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2148840"/>
            <a:ext cx="25146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qr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423160"/>
            <a:ext cx="1874519" cy="18745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052560" y="443484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Live Site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983480"/>
            <a:ext cx="2514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A6673"/>
                </a:solidFill>
                <a:latin typeface="Arial"/>
              </a:rPr>
              <a:t>מערכת WEB למיפוי דפיברילטורים נייחים וניידים, ניהול מתנדבים וסימולציית קריאת מצוקה בזמן אמת.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- WEB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תקציר הפרויקט והטכנולוגיות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מה המערכת עושה?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ממפה דפיברילטורים נייחים וניידים ומציגה מיקום, מצב סוללה וזמן שידור אחרון.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מדמה קריאת מצוקה: איתור מועמדים לפי רדיוס ומרחק, בחירת מתנדב ומעקב אחר ההגעה.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מציגה מסלול רכיבה אל האירוע ומדגימה התרעה בערוצים סלולריים ו-LoRa.</a:t>
            </a:r>
          </a:p>
          <a:p>
            <a:pPr algn="r" rtl="1">
              <a:lnSpc>
                <a:spcPct val="130000"/>
              </a:lnSpc>
              <a:spcAft>
                <a:spcPts val="12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כוללת אזור Admin לניהול רישום, תוכן שיווקי, הגדרות, התראות ונתוני הדגמה.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84632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F5C99"/>
                </a:solidFill>
                <a:latin typeface="Arial"/>
              </a:rPr>
              <a:t>תוספות בפרויקט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13892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3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RTL Hebrew  |  WEB Simulator  |  Leaflet Map</a:t>
            </a:r>
          </a:p>
          <a:p>
            <a:pPr algn="ctr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JWT + Refresh  |  Admin CMS  |  Analytics + CPR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07492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64592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טכנולוגיות מרכזיות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1031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  <a:spcAft>
                <a:spcPts val="11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Frontend: Next.js 15, React, Tailwind CSS</a:t>
            </a:r>
          </a:p>
          <a:p>
            <a:pPr algn="r" rtl="1">
              <a:lnSpc>
                <a:spcPct val="130000"/>
              </a:lnSpc>
              <a:spcAft>
                <a:spcPts val="11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Backend: Express REST API</a:t>
            </a:r>
          </a:p>
          <a:p>
            <a:pPr algn="r" rtl="1">
              <a:lnSpc>
                <a:spcPct val="130000"/>
              </a:lnSpc>
              <a:spcAft>
                <a:spcPts val="11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SQL: SQLite - משתמשים, מכשירים, Admin ו-Refresh Tokens</a:t>
            </a:r>
          </a:p>
          <a:p>
            <a:pPr algn="r" rtl="1">
              <a:lnSpc>
                <a:spcPct val="130000"/>
              </a:lnSpc>
              <a:spcAft>
                <a:spcPts val="11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NoSQL: MongoDB - אירועים, CMS, Telemetry, Alerts ו-Config</a:t>
            </a:r>
          </a:p>
          <a:p>
            <a:pPr algn="r" rtl="1">
              <a:lnSpc>
                <a:spcPct val="130000"/>
              </a:lnSpc>
              <a:spcAft>
                <a:spcPts val="11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Authentication: JWT Access Token + Refresh Token Rotation</a:t>
            </a:r>
          </a:p>
          <a:p>
            <a:pPr algn="r" rtl="1">
              <a:lnSpc>
                <a:spcPct val="130000"/>
              </a:lnSpc>
              <a:spcAft>
                <a:spcPts val="11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Maps and Routing: Leaflet + שירות Routing חיצוני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5230368"/>
            <a:ext cx="4617720" cy="41148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5330952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7A5A0A"/>
                </a:solidFill>
                <a:latin typeface="Arial"/>
              </a:rPr>
              <a:t>המערכת בנויה בשני שרתים ושני סוגי בסיסי נתונים, בהתאם לדרישות הפרויקט.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- WEB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מגבלות ידועות / Known Issues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9496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סביבת הענן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4937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2000"/>
              </a:lnSpc>
              <a:spcAft>
                <a:spcPts val="14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Render Free: לאחר זמן ללא פעילות השרת עשוי להיכנס למצב שינה, ולכן הבקשה הראשונה יכולה להתעכב.</a:t>
            </a:r>
          </a:p>
          <a:p>
            <a:pPr algn="r" rtl="1">
              <a:lnSpc>
                <a:spcPct val="132000"/>
              </a:lnSpc>
              <a:spcAft>
                <a:spcPts val="14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SQLite בענן: בשכבה החינמית הנתונים אינם נשמרים לצמיתות בין Deployments; בעת אתחול ריק נטענים מחדש נתוני הדמו.</a:t>
            </a:r>
          </a:p>
          <a:p>
            <a:pPr algn="r" rtl="1">
              <a:lnSpc>
                <a:spcPct val="132000"/>
              </a:lnSpc>
              <a:spcAft>
                <a:spcPts val="14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MongoDB Atlas: בשל היעדר IP קבוע יוצא ב-Render Free, הגישה לרשת רחבה יותר ומוגנת באמצעות Authentication ו-TLS.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5074920" cy="43434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64592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1F5C99"/>
                </a:solidFill>
                <a:latin typeface="Arial"/>
              </a:rPr>
              <a:t>שירותים חיצוניים וסימולציה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03120"/>
            <a:ext cx="4617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2000"/>
              </a:lnSpc>
              <a:spcAft>
                <a:spcPts val="14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שירות מסלולי האופניים הוא שירות ציבורי חיצוני, ולכן זמינות המסלול תלויה בזמינות השירות.</a:t>
            </a:r>
          </a:p>
          <a:p>
            <a:pPr algn="r" rtl="1">
              <a:lnSpc>
                <a:spcPct val="132000"/>
              </a:lnSpc>
              <a:spcAft>
                <a:spcPts val="14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תרחישי LoRa, Push ו-SMS מוצגים במסגרת סימולטור ה-WEB ואינם מחוברים לחומרת LoRa פיזית.</a:t>
            </a:r>
          </a:p>
          <a:p>
            <a:pPr algn="r" rtl="1">
              <a:lnSpc>
                <a:spcPct val="132000"/>
              </a:lnSpc>
              <a:spcAft>
                <a:spcPts val="1400"/>
              </a:spcAft>
            </a:pPr>
            <a:r>
              <a:rPr sz="1250" b="0">
                <a:solidFill>
                  <a:srgbClr val="222B35"/>
                </a:solidFill>
                <a:latin typeface="Arial"/>
              </a:rPr>
              <a:t>• נתוני המכשירים והמתנדבים כוללים נתוני Demo לצורך הצגה עקבית של תרחיש הקורס.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5029200"/>
            <a:ext cx="4617720" cy="658368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0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5138928"/>
            <a:ext cx="4251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7A5A0A"/>
                </a:solidFill>
                <a:latin typeface="Arial"/>
              </a:rPr>
              <a:t>גילוי נאות: אלו מגבלות ידועות של סביבת ההדגמה וה-Free Tier. הן אינן מונעות הצגת התרחיש המלא באתר.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- WEB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מבנה ארכיטקטוני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03920" y="1554480"/>
            <a:ext cx="301752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41080" y="1810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1080" y="2267712"/>
            <a:ext cx="2743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User / Admin</a:t>
            </a:r>
          </a:p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Hebrew RTL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214884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0"/>
              </a:spcAft>
            </a:pPr>
            <a:r>
              <a:rPr sz="2400" b="0">
                <a:solidFill>
                  <a:srgbClr val="1F5C99"/>
                </a:solidFill>
                <a:latin typeface="Arial"/>
              </a:rPr>
              <a:t>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554480"/>
            <a:ext cx="338328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1051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Next.js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67712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Vercel</a:t>
            </a:r>
          </a:p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Marketing · Register</a:t>
            </a:r>
          </a:p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Simulator · Admin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14884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0"/>
              </a:spcAft>
            </a:pPr>
            <a:r>
              <a:rPr sz="2400" b="0">
                <a:solidFill>
                  <a:srgbClr val="1F5C99"/>
                </a:solidFill>
                <a:latin typeface="Arial"/>
              </a:rPr>
              <a:t>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554480"/>
            <a:ext cx="3200400" cy="16002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1051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Express REST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67712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Render</a:t>
            </a:r>
          </a:p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JWT Refresh · Registry</a:t>
            </a:r>
          </a:p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Incidents · 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1847088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5A6673"/>
                </a:solidFill>
                <a:latin typeface="Arial"/>
              </a:rPr>
              <a:t>REST / 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703320"/>
            <a:ext cx="4617720" cy="14630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9593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MongoDB - NoSQL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41655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Incidents · CMS · Telemetry · Alerts · Config</a:t>
            </a:r>
          </a:p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Flexible / Nested Documents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4440" y="3703320"/>
            <a:ext cx="4617720" cy="14630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9593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43A66"/>
                </a:solidFill>
                <a:latin typeface="Arial"/>
              </a:rPr>
              <a:t>SQLite -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41655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Users · Devices · Admins · Refresh Tokens</a:t>
            </a:r>
          </a:p>
          <a:p>
            <a:pPr algn="ctr" rtl="0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Relations · Constraints · Structured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JWT Access + Refresh Rotation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Leaflet + Geo-fencing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5486400"/>
            <a:ext cx="3063240" cy="502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5614416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0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3A66"/>
                </a:solidFill>
                <a:latin typeface="Arial"/>
              </a:rPr>
              <a:t>Bike Route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- WEB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43A66"/>
                </a:solidFill>
                <a:latin typeface="Arial"/>
              </a:rPr>
              <a:t>דגימות קוד מרכזיות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5A6673"/>
                </a:solidFill>
                <a:latin typeface="Arial"/>
              </a:rPr>
              <a:t>שלושת הקטעים שנשאלים עליהם בדרך כלל: אבטחת Admin, החישוב הגיאוגרפי ורוטציית ה-Refresh Token.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143A66"/>
                </a:solidFill>
                <a:latin typeface="Arial"/>
              </a:rPr>
              <a:t>server/src/routes/incidents.js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3227832" cy="1650492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249424"/>
            <a:ext cx="2898648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sorted.sort((a, b) =&gt; {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if (a.inRadius !== b.inRadius)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return a.inRadius ? -1 : 1;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if (a.fresh !== b.fresh)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return a.fresh ? -1 : 1;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return a.distanceM - b.distanceM;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81628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מנוע האירועים - דירוג המועמדים: בתוך הרדיוס קודם, שידור טרי לפני ישן, ואז המרחק הקצר.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28800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143A66"/>
                </a:solidFill>
                <a:latin typeface="Arial"/>
              </a:rPr>
              <a:t>server/src/lib/geo.js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121408"/>
            <a:ext cx="3227832" cy="1453896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249424"/>
            <a:ext cx="2898648" cy="1197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const a =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Math.sin(dLat / 2) ** 2 +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Math.cos(la1) * Math.cos(la2) *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Math.sin(dLng / 2) ** 2;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return 2 * EARTH_RADIUS_M *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Math.asin(Math.sqrt(a));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685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נוסחת Haversine: מרחק על פני כדור הארץ בין נקודת המצוקה לכל מכשיר.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691640"/>
            <a:ext cx="3502152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828800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950" b="1">
                <a:solidFill>
                  <a:srgbClr val="143A66"/>
                </a:solidFill>
                <a:latin typeface="Arial"/>
              </a:rPr>
              <a:t>server/src/routes/auth.js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21408"/>
            <a:ext cx="3227832" cy="1650492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49424"/>
            <a:ext cx="2898648" cy="1394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db.transaction(() =&gt; {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db.prepare(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'UPDATE refresh_tokens ' +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  'SET revoked = 1 WHERE jti = ?'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).run(session.jti);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  issueRefreshToken(res, user);</a:t>
            </a:r>
          </a:p>
          <a:p>
            <a:pPr algn="l" rtl="0">
              <a:lnSpc>
                <a:spcPct val="115000"/>
              </a:lnSpc>
              <a:spcAft>
                <a:spcPts val="100"/>
              </a:spcAft>
            </a:pPr>
            <a:r>
              <a:rPr sz="950" b="0">
                <a:solidFill>
                  <a:srgbClr val="D8E4F0"/>
                </a:solidFill>
                <a:latin typeface="Consolas"/>
              </a:rPr>
              <a:t>})();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881628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5A6673"/>
                </a:solidFill>
                <a:latin typeface="Arial"/>
              </a:rPr>
              <a:t>רוטציה: כל Refresh Token הוא חד-פעמי, ולכן טוקן גנוב נכשל בשימוש החוזר.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760720"/>
            <a:ext cx="10725912" cy="5669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2700">
            <a:solidFill>
              <a:srgbClr val="DB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833872"/>
            <a:ext cx="1028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1F5C99"/>
                </a:solidFill>
                <a:latin typeface="Arial"/>
              </a:rPr>
              <a:t>קבצים מרכזיים נוספים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6071616"/>
            <a:ext cx="1028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5A6673"/>
                </a:solidFill>
                <a:latin typeface="Arial"/>
              </a:rPr>
              <a:t>server/src/routes/registry.js · server/src/db/sqlite.js · server/src/db/mongo.js · server/src/lib/silent-update.js · web/components/map/SimulatorApp.jsx · web/lib/api.js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DefiNet - WEB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0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