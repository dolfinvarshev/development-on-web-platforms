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7772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143A66"/>
                </a:solidFill>
                <a:latin typeface="Arial"/>
              </a:rPr>
              <a:t>DefiNet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A6673"/>
                </a:solidFill>
                <a:latin typeface="Arial"/>
              </a:rPr>
              <a:t>Final Project | Development on Web Platforms, Semester B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48840"/>
            <a:ext cx="3657600" cy="86868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49424"/>
            <a:ext cx="3200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Submitted by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46888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43A66"/>
                </a:solidFill>
                <a:latin typeface="Arial"/>
              </a:rPr>
              <a:t>Maayan Sandak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743200"/>
            <a:ext cx="3200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5A6673"/>
                </a:solidFill>
                <a:latin typeface="Arial"/>
              </a:rPr>
              <a:t>ID 207182585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2148840"/>
            <a:ext cx="3657600" cy="86868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0" y="2249424"/>
            <a:ext cx="3200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Submitted by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46888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43A66"/>
                </a:solidFill>
                <a:latin typeface="Arial"/>
              </a:rPr>
              <a:t>Dolfin Varshev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743200"/>
            <a:ext cx="3200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5A6673"/>
                </a:solidFill>
                <a:latin typeface="Arial"/>
              </a:rPr>
              <a:t>ID 315853101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200400"/>
            <a:ext cx="7543800" cy="56692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3200400"/>
            <a:ext cx="54864" cy="5669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246120"/>
            <a:ext cx="7132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>
                <a:solidFill>
                  <a:srgbClr val="143A66"/>
                </a:solidFill>
                <a:latin typeface="Arial"/>
              </a:rPr>
              <a:t>Live Site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493008"/>
            <a:ext cx="7132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1F5C99"/>
                </a:solidFill>
                <a:latin typeface="Arial"/>
              </a:rPr>
              <a:t>https://development-on-web-platforms-web.vercel.app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858768"/>
            <a:ext cx="7543800" cy="56692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3858768"/>
            <a:ext cx="54864" cy="5669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904487"/>
            <a:ext cx="7132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>
                <a:solidFill>
                  <a:srgbClr val="143A66"/>
                </a:solidFill>
                <a:latin typeface="Arial"/>
              </a:rPr>
              <a:t>Live 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151376"/>
            <a:ext cx="7132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1F5C99"/>
                </a:solidFill>
                <a:latin typeface="Arial"/>
              </a:rPr>
              <a:t>https://definet-api.onrender.com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517136"/>
            <a:ext cx="7543800" cy="56692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4517136"/>
            <a:ext cx="54864" cy="5669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562855"/>
            <a:ext cx="7132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>
                <a:solidFill>
                  <a:srgbClr val="143A66"/>
                </a:solidFill>
                <a:latin typeface="Arial"/>
              </a:rPr>
              <a:t>GitHub, Maayan Sandak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809744"/>
            <a:ext cx="7132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1F5C99"/>
                </a:solidFill>
                <a:latin typeface="Arial"/>
              </a:rPr>
              <a:t>https://github.com/MaayanSandak/Development-on-web-platforms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175503"/>
            <a:ext cx="7543800" cy="56692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1520" y="5175503"/>
            <a:ext cx="54864" cy="5669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5221223"/>
            <a:ext cx="7132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>
                <a:solidFill>
                  <a:srgbClr val="143A66"/>
                </a:solidFill>
                <a:latin typeface="Arial"/>
              </a:rPr>
              <a:t>GitHub, Dolfin Varshev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468112"/>
            <a:ext cx="7132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1F5C99"/>
                </a:solidFill>
                <a:latin typeface="Arial"/>
              </a:rPr>
              <a:t>https://github.com/dolfinvarshev/Development-on-web-platforms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888735"/>
            <a:ext cx="7543800" cy="457200"/>
          </a:xfrm>
          <a:prstGeom prst="roundRect">
            <a:avLst>
              <a:gd name="adj" fmla="val 6000"/>
            </a:avLst>
          </a:prstGeom>
          <a:solidFill>
            <a:srgbClr val="FFF9E6"/>
          </a:solidFill>
          <a:ln w="12700">
            <a:solidFill>
              <a:srgbClr val="E0A8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5998463"/>
            <a:ext cx="7178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7A5A0A"/>
                </a:solidFill>
                <a:latin typeface="Arial"/>
              </a:rPr>
              <a:t>Admin demo login: micha / 1234 (shown on the login screen, as the project spec requires)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2560" y="2148840"/>
            <a:ext cx="2514600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qr_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2423160"/>
            <a:ext cx="1874519" cy="187451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052560" y="4434840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5A6673"/>
                </a:solidFill>
                <a:latin typeface="Arial"/>
              </a:rPr>
              <a:t>Live Site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2560" y="4937760"/>
            <a:ext cx="2514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A web system that maps stationary and mobile defibrillators, manages volunteers and runs a real time distress call simulation.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DefiNet | WEB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1 /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43A66"/>
                </a:solidFill>
                <a:latin typeface="Arial"/>
              </a:rPr>
              <a:t>Project Summary and Technologies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5394960" cy="43434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459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>
                <a:solidFill>
                  <a:srgbClr val="1F5C99"/>
                </a:solidFill>
                <a:latin typeface="Arial"/>
              </a:rPr>
              <a:t>What does the system do?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493776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>
                <a:solidFill>
                  <a:srgbClr val="222B35"/>
                </a:solidFill>
                <a:latin typeface="Arial"/>
              </a:rPr>
              <a:t>* Maps stationary and mobile defibrillators with location, battery level and last transmission time.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>
                <a:solidFill>
                  <a:srgbClr val="222B35"/>
                </a:solidFill>
                <a:latin typeface="Arial"/>
              </a:rPr>
              <a:t>* Simulates a distress call: finds candidates by radius and distance, assigns a volunteer and tracks the arrival.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>
                <a:solidFill>
                  <a:srgbClr val="222B35"/>
                </a:solidFill>
                <a:latin typeface="Arial"/>
              </a:rPr>
              <a:t>* Draws a real bike route to the event and demonstrates alerts over both cellular and LoRa channels.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>
                <a:solidFill>
                  <a:srgbClr val="222B35"/>
                </a:solidFill>
                <a:latin typeface="Arial"/>
              </a:rPr>
              <a:t>* Includes an Admin area for registrations, marketing content, settings, alerts and demo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4846320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1F5C99"/>
                </a:solidFill>
                <a:latin typeface="Arial"/>
              </a:rPr>
              <a:t>Extras built into the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138928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30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Hebrew RTL UI  |  Web Simulator  |  Leaflet Map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JWT + Refresh  |  Admin CMS  |  Analytics + CPR Guide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417320"/>
            <a:ext cx="5074920" cy="43434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645920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>
                <a:solidFill>
                  <a:srgbClr val="1F5C99"/>
                </a:solidFill>
                <a:latin typeface="Arial"/>
              </a:rPr>
              <a:t>Core technologies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103120"/>
            <a:ext cx="461772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>
                <a:solidFill>
                  <a:srgbClr val="222B35"/>
                </a:solidFill>
                <a:latin typeface="Arial"/>
              </a:rPr>
              <a:t>* Frontend: Next.js 15, React, Tailwind CSS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>
                <a:solidFill>
                  <a:srgbClr val="222B35"/>
                </a:solidFill>
                <a:latin typeface="Arial"/>
              </a:rPr>
              <a:t>* Backend: Express REST API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>
                <a:solidFill>
                  <a:srgbClr val="222B35"/>
                </a:solidFill>
                <a:latin typeface="Arial"/>
              </a:rPr>
              <a:t>* SQL: SQLite for users, devices, admins and refresh tokens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>
                <a:solidFill>
                  <a:srgbClr val="222B35"/>
                </a:solidFill>
                <a:latin typeface="Arial"/>
              </a:rPr>
              <a:t>* NoSQL: MongoDB for incidents, CMS, telemetry, alerts and config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>
                <a:solidFill>
                  <a:srgbClr val="222B35"/>
                </a:solidFill>
                <a:latin typeface="Arial"/>
              </a:rPr>
              <a:t>* Authentication: JWT access token plus refresh token rotation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>
                <a:solidFill>
                  <a:srgbClr val="222B35"/>
                </a:solidFill>
                <a:latin typeface="Arial"/>
              </a:rPr>
              <a:t>* Maps and routing: Leaflet plus an external bike routing service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29400" y="5175504"/>
            <a:ext cx="4617720" cy="457200"/>
          </a:xfrm>
          <a:prstGeom prst="roundRect">
            <a:avLst>
              <a:gd name="adj" fmla="val 6000"/>
            </a:avLst>
          </a:prstGeom>
          <a:solidFill>
            <a:srgbClr val="FFF9E6"/>
          </a:solidFill>
          <a:ln w="12700">
            <a:solidFill>
              <a:srgbClr val="E0A8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12280" y="5285232"/>
            <a:ext cx="4251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>
                <a:solidFill>
                  <a:srgbClr val="7A5A0A"/>
                </a:solidFill>
                <a:latin typeface="Arial"/>
              </a:rPr>
              <a:t>Two servers and two database types, as the spec requires.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DefiNet | WEB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2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43A66"/>
                </a:solidFill>
                <a:latin typeface="Arial"/>
              </a:rPr>
              <a:t>Known Issues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5394960" cy="43434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459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>
                <a:solidFill>
                  <a:srgbClr val="1F5C99"/>
                </a:solidFill>
                <a:latin typeface="Arial"/>
              </a:rPr>
              <a:t>Cloud environment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49377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1200"/>
              </a:spcAft>
            </a:pPr>
            <a:r>
              <a:rPr sz="1200" b="0">
                <a:solidFill>
                  <a:srgbClr val="222B35"/>
                </a:solidFill>
                <a:latin typeface="Arial"/>
              </a:rPr>
              <a:t>* Render free tier: after a period with no traffic the server goes to sleep, so the first request can be delayed.</a:t>
            </a:r>
          </a:p>
          <a:p>
            <a:pPr algn="l">
              <a:lnSpc>
                <a:spcPct val="132000"/>
              </a:lnSpc>
              <a:spcAft>
                <a:spcPts val="1200"/>
              </a:spcAft>
            </a:pPr>
            <a:r>
              <a:rPr sz="1200" b="0">
                <a:solidFill>
                  <a:srgbClr val="222B35"/>
                </a:solidFill>
                <a:latin typeface="Arial"/>
              </a:rPr>
              <a:t>* SQLite in the cloud: on the free tier the data does not persist between deployments; an empty boot reloads the demo data.</a:t>
            </a:r>
          </a:p>
          <a:p>
            <a:pPr algn="l">
              <a:lnSpc>
                <a:spcPct val="132000"/>
              </a:lnSpc>
              <a:spcAft>
                <a:spcPts val="1200"/>
              </a:spcAft>
            </a:pPr>
            <a:r>
              <a:rPr sz="1200" b="0">
                <a:solidFill>
                  <a:srgbClr val="222B35"/>
                </a:solidFill>
                <a:latin typeface="Arial"/>
              </a:rPr>
              <a:t>* MongoDB Atlas: Render's free tier has no fixed outbound IP, so network access is wide and protected by authentication and TLS.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17320"/>
            <a:ext cx="5074920" cy="43434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645920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>
                <a:solidFill>
                  <a:srgbClr val="1F5C99"/>
                </a:solidFill>
                <a:latin typeface="Arial"/>
              </a:rPr>
              <a:t>External services and simulation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103120"/>
            <a:ext cx="46177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1200"/>
              </a:spcAft>
            </a:pPr>
            <a:r>
              <a:rPr sz="1200" b="0">
                <a:solidFill>
                  <a:srgbClr val="222B35"/>
                </a:solidFill>
                <a:latin typeface="Arial"/>
              </a:rPr>
              <a:t>* The bike route service is a public external service, so route availability depends on it.</a:t>
            </a:r>
          </a:p>
          <a:p>
            <a:pPr algn="l">
              <a:lnSpc>
                <a:spcPct val="132000"/>
              </a:lnSpc>
              <a:spcAft>
                <a:spcPts val="1200"/>
              </a:spcAft>
            </a:pPr>
            <a:r>
              <a:rPr sz="1200" b="0">
                <a:solidFill>
                  <a:srgbClr val="222B35"/>
                </a:solidFill>
                <a:latin typeface="Arial"/>
              </a:rPr>
              <a:t>* LoRa, push and SMS scenarios run inside the web simulator and are not connected to physical LoRa hardware.</a:t>
            </a:r>
          </a:p>
          <a:p>
            <a:pPr algn="l">
              <a:lnSpc>
                <a:spcPct val="132000"/>
              </a:lnSpc>
              <a:spcAft>
                <a:spcPts val="1200"/>
              </a:spcAft>
            </a:pPr>
            <a:r>
              <a:rPr sz="1200" b="0">
                <a:solidFill>
                  <a:srgbClr val="222B35"/>
                </a:solidFill>
                <a:latin typeface="Arial"/>
              </a:rPr>
              <a:t>* Device and volunteer data includes demo records so the course scenario is always presentable.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29400" y="4937760"/>
            <a:ext cx="4617720" cy="694944"/>
          </a:xfrm>
          <a:prstGeom prst="roundRect">
            <a:avLst>
              <a:gd name="adj" fmla="val 6000"/>
            </a:avLst>
          </a:prstGeom>
          <a:solidFill>
            <a:srgbClr val="FFF9E6"/>
          </a:solidFill>
          <a:ln w="12700">
            <a:solidFill>
              <a:srgbClr val="E0A8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5047488"/>
            <a:ext cx="4251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>
                <a:solidFill>
                  <a:srgbClr val="7A5A0A"/>
                </a:solidFill>
                <a:latin typeface="Arial"/>
              </a:rPr>
              <a:t>Full disclosure: these are known limits of the free tier demo setup. None of them block the full scenario on the site.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DefiNet | WEB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3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43A66"/>
                </a:solidFill>
                <a:latin typeface="Arial"/>
              </a:rPr>
              <a:t>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3017520" cy="16002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1051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143A66"/>
                </a:solidFill>
                <a:latin typeface="Arial"/>
              </a:rPr>
              <a:t>Browser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267712"/>
            <a:ext cx="2743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User / Admin</a:t>
            </a:r>
          </a:p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Hebrew RTL 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9456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200" b="1">
                <a:solidFill>
                  <a:srgbClr val="1F5C99"/>
                </a:solidFill>
                <a:latin typeface="Arial"/>
              </a:rPr>
              <a:t>&gt;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554480"/>
            <a:ext cx="3383280" cy="16002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810512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143A66"/>
                </a:solidFill>
                <a:latin typeface="Arial"/>
              </a:rPr>
              <a:t>Next.js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267712"/>
            <a:ext cx="3108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Vercel</a:t>
            </a:r>
          </a:p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Marketing | Register</a:t>
            </a:r>
          </a:p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Simulator | Admin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65008" y="219456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200" b="1">
                <a:solidFill>
                  <a:srgbClr val="1F5C99"/>
                </a:solidFill>
                <a:latin typeface="Arial"/>
              </a:rPr>
              <a:t>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07808" y="1874519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5A6673"/>
                </a:solidFill>
                <a:latin typeface="Arial"/>
              </a:rPr>
              <a:t>REST / JSON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95360" y="1554480"/>
            <a:ext cx="3017520" cy="16002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32520" y="181051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143A66"/>
                </a:solidFill>
                <a:latin typeface="Arial"/>
              </a:rPr>
              <a:t>Express REST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2520" y="2267712"/>
            <a:ext cx="2743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Render</a:t>
            </a:r>
          </a:p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JWT Refresh | Registry</a:t>
            </a:r>
          </a:p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Incidents | Telemetry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34440" y="3703320"/>
            <a:ext cx="4617720" cy="146304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959352"/>
            <a:ext cx="4343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143A66"/>
                </a:solidFill>
                <a:latin typeface="Arial"/>
              </a:rPr>
              <a:t>SQLite (SQL)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416552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Users | Devices | Admins | Refresh Tokens</a:t>
            </a:r>
          </a:p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Relations, constraints, structured data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3703320"/>
            <a:ext cx="4617720" cy="146304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959352"/>
            <a:ext cx="4343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143A66"/>
                </a:solidFill>
                <a:latin typeface="Arial"/>
              </a:rPr>
              <a:t>MongoDB (NoSQL)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416552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Incidents | CMS | Telemetry | Alerts | Config</a:t>
            </a:r>
          </a:p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Flexible nested documents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486400"/>
            <a:ext cx="3063240" cy="50292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614416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143A66"/>
                </a:solidFill>
                <a:latin typeface="Arial"/>
              </a:rPr>
              <a:t>JWT Access + Refresh Rotation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0" y="5486400"/>
            <a:ext cx="3063240" cy="50292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3440" y="5614416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143A66"/>
                </a:solidFill>
                <a:latin typeface="Arial"/>
              </a:rPr>
              <a:t>Leaflet + Geo-fencing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21040" y="5486400"/>
            <a:ext cx="3063240" cy="50292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0" y="5614416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143A66"/>
                </a:solidFill>
                <a:latin typeface="Arial"/>
              </a:rPr>
              <a:t>Bike Route Service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DefiNet | WEB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4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43A66"/>
                </a:solidFill>
                <a:latin typeface="Arial"/>
              </a:rPr>
              <a:t>Key Code Samples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728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5A6673"/>
                </a:solidFill>
                <a:latin typeface="Arial"/>
              </a:rPr>
              <a:t>The three parts examiners usually ask about: admin security, the geographic computation and refresh token rotation.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502152" cy="393192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32278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>
                <a:solidFill>
                  <a:srgbClr val="143A66"/>
                </a:solidFill>
                <a:latin typeface="Arial"/>
              </a:rPr>
              <a:t>server/src/routes/incidents.js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121408"/>
            <a:ext cx="3227832" cy="1650492"/>
          </a:xfrm>
          <a:prstGeom prst="roundRect">
            <a:avLst>
              <a:gd name="adj" fmla="val 6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249424"/>
            <a:ext cx="2898648" cy="1394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sorted.sort((a, b) =&gt; {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  if (a.inRadius !== b.inRadius)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    return a.inRadius ? -1 : 1;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  if (a.fresh !== b.fresh)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    return a.fresh ? -1 : 1;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  return a.distanceM - b.distanceM;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});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881628"/>
            <a:ext cx="322783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The incident engine ranks candidates: inside the radius first, fresh transmissions before stale ones, then the shortest distance.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691640"/>
            <a:ext cx="3502152" cy="393192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28800"/>
            <a:ext cx="32278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>
                <a:solidFill>
                  <a:srgbClr val="143A66"/>
                </a:solidFill>
                <a:latin typeface="Arial"/>
              </a:rPr>
              <a:t>server/src/lib/geo.js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2121408"/>
            <a:ext cx="3227832" cy="1453896"/>
          </a:xfrm>
          <a:prstGeom prst="roundRect">
            <a:avLst>
              <a:gd name="adj" fmla="val 6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2" y="2249424"/>
            <a:ext cx="2898648" cy="1197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const a =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  Math.sin(dLat / 2) ** 2 +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  Math.cos(la1) * Math.cos(la2) *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  Math.sin(dLng / 2) ** 2;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return 2 * EARTH_RADIUS_M *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  Math.asin(Math.sqrt(a));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3685032"/>
            <a:ext cx="322783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The Haversine formula: distance over the surface of the Earth between the distress point and each device.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1691640"/>
            <a:ext cx="3502152" cy="393192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2440" y="1828800"/>
            <a:ext cx="32278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>
                <a:solidFill>
                  <a:srgbClr val="143A66"/>
                </a:solidFill>
                <a:latin typeface="Arial"/>
              </a:rPr>
              <a:t>server/src/routes/auth.js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21408"/>
            <a:ext cx="3227832" cy="1650492"/>
          </a:xfrm>
          <a:prstGeom prst="roundRect">
            <a:avLst>
              <a:gd name="adj" fmla="val 6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7031" y="2249424"/>
            <a:ext cx="2898648" cy="1394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db.transaction(() =&gt; {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  db.prepare(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    'UPDATE refresh_tokens ' +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    'SET revoked = 1 WHERE jti = ?'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  ).run(session.jti);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  issueRefreshToken(res, user);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})();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3881628"/>
            <a:ext cx="322783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Rotation: every refresh token is single use, so a stolen token fails the moment it is reused.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760720"/>
            <a:ext cx="10725912" cy="56692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833872"/>
            <a:ext cx="10287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1F5C99"/>
                </a:solidFill>
                <a:latin typeface="Arial"/>
              </a:rPr>
              <a:t>Other key files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6071616"/>
            <a:ext cx="10287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5A6673"/>
                </a:solidFill>
                <a:latin typeface="Arial"/>
              </a:rPr>
              <a:t>server/src/routes/registry.js | server/src/db/sqlite.js | server/src/db/mongo.js | server/src/lib/silent-update.js | web/components/map/SimulatorApp.jsx | web/lib/api.js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DefiNet | WEB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5 /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